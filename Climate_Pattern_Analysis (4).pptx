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206240"/>
            <a:ext cx="9144000" cy="91440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3657600"/>
            <a:ext cx="8229600" cy="82296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Pattern Analysis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K-Means Clustering and PCA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68680" y="3703320"/>
            <a:ext cx="2194560" cy="0"/>
          </a:xfrm>
          <a:prstGeom prst="line">
            <a:avLst/>
          </a:prstGeom>
          <a:noFill/>
          <a:ln w="38100">
            <a:solidFill>
              <a:srgbClr val="F4A2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862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interpretable climate regimes in the Indian Climate Dataset (2024–2025)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51480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4892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0" y="51480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[Roll Number]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4892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51480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0" y="4892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0" y="51480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[Institution Name]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35440" y="4892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235440" y="51480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Machine Learning for Climate Data?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46120" cy="3566160"/>
          </a:xfrm>
          <a:prstGeom prst="rect">
            <a:avLst>
              <a:gd name="adj" fmla="val 2254"/>
            </a:avLst>
          </a:prstGeom>
          <a:solidFill>
            <a:srgbClr val="EEF4F7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Multi-variable complexity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datasets combine temperature, humidity, rainfall, wind speed and pressure — variables that interact in non-obvious ways.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965960"/>
            <a:ext cx="3246120" cy="3566160"/>
          </a:xfrm>
          <a:prstGeom prst="rect">
            <a:avLst>
              <a:gd name="adj" fmla="val 2254"/>
            </a:avLst>
          </a:prstGeom>
          <a:solidFill>
            <a:srgbClr val="EEF4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80560" y="31089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structure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374904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 analysis struggles to reveal groupings and relationships buried across many correlated variables.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1965960"/>
            <a:ext cx="3246120" cy="3566160"/>
          </a:xfrm>
          <a:prstGeom prst="rect">
            <a:avLst>
              <a:gd name="adj" fmla="val 2254"/>
            </a:avLst>
          </a:prstGeom>
          <a:solidFill>
            <a:srgbClr val="EEF4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09244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46720" y="31089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discovery with ML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0" y="3749040"/>
            <a:ext cx="2697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and K-Means clustering can uncover groups of observations that share similar climate characteristics.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Solve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846320" cy="4114800"/>
          </a:xfrm>
          <a:prstGeom prst="rect">
            <a:avLst>
              <a:gd name="adj" fmla="val 1778"/>
            </a:avLst>
          </a:prstGeom>
          <a:solidFill>
            <a:srgbClr val="0B1F3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206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Large-scale climate datasets contain complex relationships between multiple environmental variables. Identifying distinct climate patterns manually is difficult.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5216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222199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2221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214884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climate characteristics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52160" y="2843784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2843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770632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relationships among variables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52160" y="3465576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34655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3392424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dimensionality using PCA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52160" y="408736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40873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4014216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suitable clustering structure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52160" y="470916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4709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4636008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climate regimes using K-Means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52160" y="533095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0" y="5330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525780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the resulting clusters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Climate Dataset (2024–2025)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926080" cy="4114800"/>
          </a:xfrm>
          <a:prstGeom prst="rect">
            <a:avLst>
              <a:gd name="adj" fmla="val 25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6517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~7,300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4023360"/>
            <a:ext cx="1828800" cy="0"/>
          </a:xfrm>
          <a:prstGeom prst="line">
            <a:avLst/>
          </a:prstGeom>
          <a:noFill/>
          <a:ln w="25400">
            <a:solidFill>
              <a:srgbClr val="F4A2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062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climate observations across India, covering temperature, moisture, wind and pressure variables.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862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86200" y="2267712"/>
            <a:ext cx="128016" cy="128016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1" name="Text 9"/>
          <p:cNvSpPr/>
          <p:nvPr/>
        </p:nvSpPr>
        <p:spPr>
          <a:xfrm>
            <a:off x="4178808" y="214884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Temperature_Max (°C)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86200" y="2834640"/>
            <a:ext cx="128016" cy="128016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3" name="Text 11"/>
          <p:cNvSpPr/>
          <p:nvPr/>
        </p:nvSpPr>
        <p:spPr>
          <a:xfrm>
            <a:off x="4178808" y="27157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Temperature_Min (°C)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86200" y="3401568"/>
            <a:ext cx="128016" cy="128016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5" name="Text 13"/>
          <p:cNvSpPr/>
          <p:nvPr/>
        </p:nvSpPr>
        <p:spPr>
          <a:xfrm>
            <a:off x="4178808" y="328269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Temperature_Avg (°C)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86200" y="3968496"/>
            <a:ext cx="128016" cy="128016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7" name="Text 15"/>
          <p:cNvSpPr/>
          <p:nvPr/>
        </p:nvSpPr>
        <p:spPr>
          <a:xfrm>
            <a:off x="4178808" y="384962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(%)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06640" y="2267712"/>
            <a:ext cx="128016" cy="128016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9" name="Text 17"/>
          <p:cNvSpPr/>
          <p:nvPr/>
        </p:nvSpPr>
        <p:spPr>
          <a:xfrm>
            <a:off x="7699248" y="214884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(mm)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06640" y="2834640"/>
            <a:ext cx="128016" cy="128016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21" name="Text 19"/>
          <p:cNvSpPr/>
          <p:nvPr/>
        </p:nvSpPr>
        <p:spPr>
          <a:xfrm>
            <a:off x="7699248" y="27157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Wind_Speed (km/h)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06640" y="3401568"/>
            <a:ext cx="128016" cy="128016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23" name="Text 21"/>
          <p:cNvSpPr/>
          <p:nvPr/>
        </p:nvSpPr>
        <p:spPr>
          <a:xfrm>
            <a:off x="7699248" y="328269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(hPa)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06640" y="3968496"/>
            <a:ext cx="128016" cy="128016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25" name="Text 23"/>
          <p:cNvSpPr/>
          <p:nvPr/>
        </p:nvSpPr>
        <p:spPr>
          <a:xfrm>
            <a:off x="7699248" y="384962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Cloud_Cover (%)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86200" y="4617720"/>
            <a:ext cx="7680960" cy="1234440"/>
          </a:xfrm>
          <a:prstGeom prst="rect">
            <a:avLst>
              <a:gd name="adj" fmla="val 5926"/>
            </a:avLst>
          </a:prstGeom>
          <a:solidFill>
            <a:srgbClr val="EEF4F7"/>
          </a:solidFill>
          <a:ln/>
        </p:spPr>
      </p:sp>
      <p:sp>
        <p:nvSpPr>
          <p:cNvPr id="27" name="Text 25"/>
          <p:cNvSpPr/>
          <p:nvPr/>
        </p:nvSpPr>
        <p:spPr>
          <a:xfrm>
            <a:off x="41605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60520" y="50749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Missing-value inspection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50749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 selection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18120" y="50749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Standardization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46920" y="50749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PCA transformation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Analysis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96112" y="2249424"/>
            <a:ext cx="0" cy="658368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099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0574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observations for 2024–2025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96112" y="3419856"/>
            <a:ext cx="0" cy="658368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40080" y="290779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07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880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2278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clean missing values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6112" y="4590288"/>
            <a:ext cx="0" cy="658368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40080" y="407822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782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0507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3982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8 relevant climate variables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24865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486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52212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5686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 to comparable ranges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65392" y="2249424"/>
            <a:ext cx="0" cy="658368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309360" y="173736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737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95160" y="17099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20574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dimensionality, retain key variance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65392" y="3419856"/>
            <a:ext cx="0" cy="658368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309360" y="290779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2907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95160" y="2880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+ Silhouette Analysis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32278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candidate cluster counts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65392" y="4590288"/>
            <a:ext cx="0" cy="658368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309360" y="4078224"/>
            <a:ext cx="512064" cy="512064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40782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95160" y="40507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95160" y="43982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observations into climate regimes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09360" y="524865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52486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95160" y="52212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Pattern Interpretation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995160" y="55686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explain each regime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Between Climate Variables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126480" cy="4206240"/>
          </a:xfrm>
          <a:prstGeom prst="rect">
            <a:avLst>
              <a:gd name="adj" fmla="val 1304"/>
            </a:avLst>
          </a:prstGeom>
          <a:solidFill>
            <a:srgbClr val="F7FAFB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514600" y="3337560"/>
            <a:ext cx="2377440" cy="914400"/>
          </a:xfrm>
          <a:prstGeom prst="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514600" y="33375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GRAPH
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8660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86600" y="2148840"/>
            <a:ext cx="4572000" cy="457200"/>
          </a:xfrm>
          <a:prstGeom prst="rect">
            <a:avLst>
              <a:gd name="adj" fmla="val 10000"/>
            </a:avLst>
          </a:prstGeom>
          <a:solidFill>
            <a:srgbClr val="EEF4F7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↔ Min Temperature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49840" y="2148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86600" y="2715768"/>
            <a:ext cx="4572000" cy="457200"/>
          </a:xfrm>
          <a:prstGeom prst="rect">
            <a:avLst>
              <a:gd name="adj" fmla="val 10000"/>
            </a:avLst>
          </a:prstGeom>
          <a:solidFill>
            <a:srgbClr val="EEF4F7"/>
          </a:solidFill>
          <a:ln/>
        </p:spPr>
      </p:sp>
      <p:sp>
        <p:nvSpPr>
          <p:cNvPr id="12" name="Text 10"/>
          <p:cNvSpPr/>
          <p:nvPr/>
        </p:nvSpPr>
        <p:spPr>
          <a:xfrm>
            <a:off x="7269480" y="27157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↔ Avg Temperature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149840" y="27157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86600" y="3282696"/>
            <a:ext cx="4572000" cy="457200"/>
          </a:xfrm>
          <a:prstGeom prst="rect">
            <a:avLst>
              <a:gd name="adj" fmla="val 10000"/>
            </a:avLst>
          </a:prstGeom>
          <a:solidFill>
            <a:srgbClr val="EEF4F7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32826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↔ Avg Temperature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149840" y="328269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86600" y="39776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variables show strong mutual correlation. Other variables (humidity, rainfall, wind, pressure) show relatively weak linear correlation with each other.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86600" y="5074920"/>
            <a:ext cx="4572000" cy="777240"/>
          </a:xfrm>
          <a:prstGeom prst="rect">
            <a:avLst>
              <a:gd name="adj" fmla="val 7059"/>
            </a:avLst>
          </a:prstGeom>
          <a:solidFill>
            <a:srgbClr val="0B1F33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51663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can represent this overall variation more compactly by combining correlated variables into fewer components.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DIMENSIONALITY REDUCTION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Compressing Variation into Principal Components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92240" cy="4160520"/>
          </a:xfrm>
          <a:prstGeom prst="rect">
            <a:avLst>
              <a:gd name="adj" fmla="val 1319"/>
            </a:avLst>
          </a:prstGeom>
          <a:solidFill>
            <a:srgbClr val="F7FAFB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697480" y="3314700"/>
            <a:ext cx="2377440" cy="914400"/>
          </a:xfrm>
          <a:prstGeom prst="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697480" y="33147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GRAPH
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EXPLAINED VARIANCE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52360" y="1691640"/>
            <a:ext cx="4160520" cy="1188720"/>
          </a:xfrm>
          <a:prstGeom prst="rect">
            <a:avLst>
              <a:gd name="adj" fmla="val 6154"/>
            </a:avLst>
          </a:prstGeom>
          <a:solidFill>
            <a:srgbClr val="EEF4F7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0" y="21031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36.20%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452360" y="3108960"/>
            <a:ext cx="4160520" cy="1188720"/>
          </a:xfrm>
          <a:prstGeom prst="rect">
            <a:avLst>
              <a:gd name="adj" fmla="val 6154"/>
            </a:avLst>
          </a:prstGeom>
          <a:solidFill>
            <a:srgbClr val="EEF4F7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0960" y="35204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12.93%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7452360" y="4526280"/>
            <a:ext cx="4160520" cy="1188720"/>
          </a:xfrm>
          <a:prstGeom prst="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4663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0" y="49377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49.13%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transforms correlated climate variables into principal components while retaining the most important variation. PC1 and PC2 together are used to visualize climate observations in a lower-dimensional space.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NUMBER OF CLUSTERS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Elbow Method &amp; Silhouette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92240" cy="3383280"/>
          </a:xfrm>
          <a:prstGeom prst="rect">
            <a:avLst>
              <a:gd name="adj" fmla="val 1622"/>
            </a:avLst>
          </a:prstGeom>
          <a:solidFill>
            <a:srgbClr val="F7FAFB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697480" y="2926080"/>
            <a:ext cx="2377440" cy="914400"/>
          </a:xfrm>
          <a:prstGeom prst="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697480" y="2926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GRAPH
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52360" y="1737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52360" y="2240280"/>
            <a:ext cx="146304" cy="146304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9" name="Text 7"/>
          <p:cNvSpPr/>
          <p:nvPr/>
        </p:nvSpPr>
        <p:spPr>
          <a:xfrm>
            <a:off x="7726680" y="2148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values from 2 to 10 were evaluated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52360" y="2834640"/>
            <a:ext cx="146304" cy="146304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1" name="Text 9"/>
          <p:cNvSpPr/>
          <p:nvPr/>
        </p:nvSpPr>
        <p:spPr>
          <a:xfrm>
            <a:off x="7726680" y="2743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decreases as K increases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52360" y="3429000"/>
            <a:ext cx="146304" cy="146304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3" name="Text 11"/>
          <p:cNvSpPr/>
          <p:nvPr/>
        </p:nvSpPr>
        <p:spPr>
          <a:xfrm>
            <a:off x="772668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elbow region appears around K = 3–4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257800"/>
            <a:ext cx="10881360" cy="1234440"/>
          </a:xfrm>
          <a:prstGeom prst="rect">
            <a:avLst>
              <a:gd name="adj" fmla="val 5926"/>
            </a:avLst>
          </a:prstGeom>
          <a:solidFill>
            <a:srgbClr val="0B1F3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394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ANALYSIS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56692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analysis was also performed. K = 2 achieved the highest silhouette score (~0.453). K = 3 was selected for the final analysis because it provides more interpretable climate regimes while remaining consistent with the elbow region.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K-MEANS CLIMATE PATTERNS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Distinct Climate Regimes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126480" cy="4206240"/>
          </a:xfrm>
          <a:prstGeom prst="rect">
            <a:avLst>
              <a:gd name="adj" fmla="val 1304"/>
            </a:avLst>
          </a:prstGeom>
          <a:solidFill>
            <a:srgbClr val="F7FAFB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514600" y="3337560"/>
            <a:ext cx="2377440" cy="914400"/>
          </a:xfrm>
          <a:prstGeom prst="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514600" y="33375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GRAPH
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K-MEANS CLUSTERS WITH CENTROIDS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086600" y="1691640"/>
            <a:ext cx="4572000" cy="685800"/>
          </a:xfrm>
          <a:prstGeom prst="rect">
            <a:avLst>
              <a:gd name="adj" fmla="val 10667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269480" y="16916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K  =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86600" y="2606040"/>
            <a:ext cx="4572000" cy="868680"/>
          </a:xfrm>
          <a:prstGeom prst="rect">
            <a:avLst>
              <a:gd name="adj" fmla="val 8421"/>
            </a:avLst>
          </a:prstGeom>
          <a:solidFill>
            <a:srgbClr val="EEF4F7"/>
          </a:solidFill>
          <a:ln/>
        </p:spPr>
      </p:sp>
      <p:sp>
        <p:nvSpPr>
          <p:cNvPr id="10" name="Shape 8"/>
          <p:cNvSpPr/>
          <p:nvPr/>
        </p:nvSpPr>
        <p:spPr>
          <a:xfrm>
            <a:off x="7269480" y="28072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26948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0" y="2715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63840" y="2971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Hot-Humid Climate Pattern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086600" y="3657600"/>
            <a:ext cx="4572000" cy="868680"/>
          </a:xfrm>
          <a:prstGeom prst="rect">
            <a:avLst>
              <a:gd name="adj" fmla="val 8421"/>
            </a:avLst>
          </a:prstGeom>
          <a:solidFill>
            <a:srgbClr val="EEF4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269480" y="38587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63840" y="3767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863840" y="4023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Cool-Rainy Climate Pattern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086600" y="4709160"/>
            <a:ext cx="4572000" cy="868680"/>
          </a:xfrm>
          <a:prstGeom prst="rect">
            <a:avLst>
              <a:gd name="adj" fmla="val 8421"/>
            </a:avLst>
          </a:prstGeom>
          <a:solidFill>
            <a:srgbClr val="EEF4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269480" y="4910328"/>
            <a:ext cx="457200" cy="45720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4910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8638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63840" y="5074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Moderate-Dry/Windy Climate Pattern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groups observations based on similarity in the standardized climate feature space, revealing regimes that share common temperature, moisture and wind characteristics.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the Climate Patterns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120640" cy="2514600"/>
          </a:xfrm>
          <a:prstGeom prst="rect">
            <a:avLst>
              <a:gd name="adj" fmla="val 2182"/>
            </a:avLst>
          </a:prstGeom>
          <a:solidFill>
            <a:srgbClr val="13294B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148840" y="2199132"/>
            <a:ext cx="2103120" cy="768096"/>
          </a:xfrm>
          <a:prstGeom prst="rect">
            <a:avLst>
              <a:gd name="adj" fmla="val 714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148840" y="2199132"/>
            <a:ext cx="2103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GRAPH
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Climate</a:t>
            </a:r>
            <a:endParaRPr lang="en-US" sz="8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by Cluster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89320" y="1325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89320" y="158191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Hot, humid, lower rainfall and lower wind conditions.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9320" y="21762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89320" y="243230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Cooler, rainy conditions with relatively high pressure.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89320" y="30266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89320" y="3282696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temperatures, low humidity, lower rainfall, stronger winds and lower cloud cover.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DISTRIBUTION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279392"/>
            <a:ext cx="1600200" cy="713232"/>
          </a:xfrm>
          <a:prstGeom prst="rect">
            <a:avLst>
              <a:gd name="adj" fmla="val 7692"/>
            </a:avLst>
          </a:prstGeom>
          <a:solidFill>
            <a:srgbClr val="13294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2511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2,425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23160" y="4279392"/>
            <a:ext cx="1600200" cy="713232"/>
          </a:xfrm>
          <a:prstGeom prst="rect">
            <a:avLst>
              <a:gd name="adj" fmla="val 7692"/>
            </a:avLst>
          </a:prstGeom>
          <a:solidFill>
            <a:srgbClr val="13294B"/>
          </a:solidFill>
          <a:ln/>
        </p:spPr>
      </p:sp>
      <p:sp>
        <p:nvSpPr>
          <p:cNvPr id="18" name="Text 16"/>
          <p:cNvSpPr/>
          <p:nvPr/>
        </p:nvSpPr>
        <p:spPr>
          <a:xfrm>
            <a:off x="2423160" y="432511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2,385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23160" y="46634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06240" y="4279392"/>
            <a:ext cx="1600200" cy="713232"/>
          </a:xfrm>
          <a:prstGeom prst="rect">
            <a:avLst>
              <a:gd name="adj" fmla="val 7692"/>
            </a:avLst>
          </a:prstGeom>
          <a:solidFill>
            <a:srgbClr val="13294B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240" y="432511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06240" y="46634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5138928"/>
            <a:ext cx="108813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combined with PCA successfully identified three distinct and interpretable climate patterns within the Indian climate dataset.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897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61722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geographic coordinates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70248" y="61722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Study seasonal patterns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00416" y="61722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multi-year climate data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64922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Compare K-Means with DBSCAN/GMM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70248" y="64922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Develop a climate analytics dashboard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900416" y="64922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Investigate extreme-weather anomalies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2026-08-22T05:16:26Z</dcterms:created>
  <dcterms:modified xsi:type="dcterms:W3CDTF">2026-08-22T05:16:26Z</dcterms:modified>
</cp:coreProperties>
</file>